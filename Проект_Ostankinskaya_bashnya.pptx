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41" r:id="rId1"/>
  </p:sldMasterIdLst>
  <p:sldIdLst>
    <p:sldId id="256" r:id="rId2"/>
    <p:sldId id="257" r:id="rId3"/>
    <p:sldId id="259" r:id="rId4"/>
    <p:sldId id="265" r:id="rId5"/>
    <p:sldId id="267" r:id="rId6"/>
    <p:sldId id="266" r:id="rId7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Ян Санин" initials="ЯС" lastIdx="1" clrIdx="0">
    <p:extLst>
      <p:ext uri="{19B8F6BF-5375-455C-9EA6-DF929625EA0E}">
        <p15:presenceInfo xmlns:p15="http://schemas.microsoft.com/office/powerpoint/2012/main" userId="44ff170a8638202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2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064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934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28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49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10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71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2/6/2026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06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13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4015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90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7769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64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42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78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ITLE_AND_BOD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8760" y="272520"/>
            <a:ext cx="10971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buNone/>
            </a:pPr>
            <a:r>
              <a:rPr lang="ru-RU" sz="3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384795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76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ru.wikipedia.org/wiki/%D0%9E%D1%81%D1%82%D0%B0%D0%BD%D0%BA%D0%B8%D0%BD%D1%81%D0%BA%D0%B0%D1%8F_%D1%82%D0%B5%D0%BB%D0%B5%D0%B1%D0%B0%D1%88%D0%BD%D1%8F" TargetMode="External"/><Relationship Id="rId7" Type="http://schemas.openxmlformats.org/officeDocument/2006/relationships/image" Target="../media/image9.jpeg"/><Relationship Id="rId2" Type="http://schemas.openxmlformats.org/officeDocument/2006/relationships/hyperlink" Target="https://tatlin.ru/lib/ostankinskaya_televizionnaya_bashny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blender.org/manual/ru/3.6/addons/index.html" TargetMode="External"/><Relationship Id="rId5" Type="http://schemas.openxmlformats.org/officeDocument/2006/relationships/hyperlink" Target="https://www.blender.org/" TargetMode="External"/><Relationship Id="rId4" Type="http://schemas.openxmlformats.org/officeDocument/2006/relationships/hyperlink" Target="https://www.labirint.ru/books/97983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2;p15"/>
          <p:cNvSpPr/>
          <p:nvPr/>
        </p:nvSpPr>
        <p:spPr>
          <a:xfrm>
            <a:off x="392040" y="2719544"/>
            <a:ext cx="6184925" cy="45516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-RU" sz="2200" b="1" u="none" strike="noStrike" dirty="0">
                <a:solidFill>
                  <a:srgbClr val="00B0F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Авторы проекта: </a:t>
            </a:r>
            <a:endParaRPr lang="ru-RU" sz="2200" b="0" u="none" strike="noStrike" dirty="0">
              <a:solidFill>
                <a:srgbClr val="00B0F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-RU" sz="2000" dirty="0" smtClean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«7В»</a:t>
            </a:r>
            <a:r>
              <a:rPr lang="ru-RU" sz="2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класс ГБОУ Школа №618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-RU" sz="2000" dirty="0">
                <a:solidFill>
                  <a:srgbClr val="000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Санин Ян Ильич</a:t>
            </a: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-RU" sz="2000" dirty="0">
                <a:solidFill>
                  <a:srgbClr val="000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Пономарев Александр Александрович</a:t>
            </a: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-RU" sz="2000" dirty="0" err="1">
                <a:solidFill>
                  <a:srgbClr val="000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Панчев</a:t>
            </a:r>
            <a:r>
              <a:rPr lang="ru-RU" sz="2000" dirty="0">
                <a:solidFill>
                  <a:srgbClr val="000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Артемий Андреевич</a:t>
            </a: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sz="1800" dirty="0" smtClean="0"/>
              <a:t/>
            </a:r>
            <a:br>
              <a:rPr sz="1800" dirty="0" smtClean="0"/>
            </a:br>
            <a:r>
              <a:rPr lang="ru-RU" sz="2200" b="1" u="none" strike="noStrike" dirty="0" smtClean="0">
                <a:solidFill>
                  <a:srgbClr val="00B0F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Руководитель проекта: </a:t>
            </a:r>
            <a:r>
              <a:rPr sz="1800" dirty="0" smtClean="0"/>
              <a:t/>
            </a:r>
            <a:br>
              <a:rPr sz="1800" dirty="0" smtClean="0"/>
            </a:br>
            <a:r>
              <a:rPr lang="ru-RU" sz="2000" dirty="0" smtClean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2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читель информатики ГБОУ Школа №618 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u="none" strike="noStrike" dirty="0" smtClean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Баранов Михаил Сергеевич	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5"/>
          <p:cNvPicPr/>
          <p:nvPr/>
        </p:nvPicPr>
        <p:blipFill>
          <a:blip r:embed="rId2"/>
          <a:stretch/>
        </p:blipFill>
        <p:spPr>
          <a:xfrm>
            <a:off x="618480" y="254160"/>
            <a:ext cx="1249560" cy="1237320"/>
          </a:xfrm>
          <a:prstGeom prst="rect">
            <a:avLst/>
          </a:prstGeom>
          <a:solidFill>
            <a:srgbClr val="EDEDED"/>
          </a:solidFill>
          <a:ln w="88900" cap="sq">
            <a:solidFill>
              <a:srgbClr val="FFFFFF"/>
            </a:solidFill>
            <a:miter/>
          </a:ln>
          <a:effectLst>
            <a:outerShdw blurRad="5508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Прямоугольник 1"/>
          <p:cNvSpPr/>
          <p:nvPr/>
        </p:nvSpPr>
        <p:spPr>
          <a:xfrm>
            <a:off x="2182943" y="68127"/>
            <a:ext cx="7302434" cy="11325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Государственное бюджетное общеобразовательное учреждение города Москвы «Школа № 618» 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7"/>
          <p:cNvSpPr/>
          <p:nvPr/>
        </p:nvSpPr>
        <p:spPr>
          <a:xfrm>
            <a:off x="1243440" y="1701000"/>
            <a:ext cx="8798040" cy="8090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spcAft>
                <a:spcPts val="799"/>
              </a:spcAft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МОДЕЛИРОВАНИЕ ОСТАНКИНСКОЙ ТЕЛЕБАШНИ</a:t>
            </a:r>
          </a:p>
          <a:p>
            <a:pPr algn="ctr">
              <a:spcAft>
                <a:spcPts val="799"/>
              </a:spcAft>
            </a:pPr>
            <a:r>
              <a:rPr lang="ru-RU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В ПРОГРАММЕ BLENDER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8;p16"/>
          <p:cNvSpPr/>
          <p:nvPr/>
        </p:nvSpPr>
        <p:spPr>
          <a:xfrm>
            <a:off x="348120" y="-102240"/>
            <a:ext cx="10971720" cy="151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60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Актуальность</a:t>
            </a:r>
            <a:endParaRPr lang="ru-RU" sz="6000" b="0" u="none" strike="noStrike" dirty="0">
              <a:solidFill>
                <a:schemeClr val="accent1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69;p16"/>
          <p:cNvSpPr/>
          <p:nvPr/>
        </p:nvSpPr>
        <p:spPr>
          <a:xfrm>
            <a:off x="407520" y="1409760"/>
            <a:ext cx="6530400" cy="21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48120" y="1569618"/>
            <a:ext cx="7626503" cy="3162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Останкинская телебашня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один из самых узнаваемых инженерных символов России и выдающийся пример архитектурно‑строительных достижений XX века. </a:t>
            </a:r>
            <a:r>
              <a:rPr lang="ru-RU" sz="1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​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проект направлен на создание трёхмерной цифровой модели башни с использованием инструментов современного 3D‑проектирования.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над проектом развивает навыки трёхмерного моделирования, пространственного мышления и владения профессиональными инструментами цифровой графики.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239" y="1659927"/>
            <a:ext cx="2334696" cy="332140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3;p18"/>
          <p:cNvSpPr/>
          <p:nvPr/>
        </p:nvSpPr>
        <p:spPr>
          <a:xfrm>
            <a:off x="384120" y="2189285"/>
            <a:ext cx="8997272" cy="33850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Собрать фотографии и схемы Останкинской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телебашни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основные элементы конструкции для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моделирования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Освоить базовые инструменты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необходимые для создания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основные формы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башни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детали и улучшить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геометрию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84;p18"/>
          <p:cNvSpPr/>
          <p:nvPr/>
        </p:nvSpPr>
        <p:spPr>
          <a:xfrm>
            <a:off x="384120" y="452117"/>
            <a:ext cx="8997272" cy="10784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реалистичную 3D-модель Останкинской телебашни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одновременно развить навыки работы с основными инструментами программы.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85;p18"/>
          <p:cNvSpPr/>
          <p:nvPr/>
        </p:nvSpPr>
        <p:spPr>
          <a:xfrm>
            <a:off x="4122093" y="-63222"/>
            <a:ext cx="1521323" cy="6523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3200" b="1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Цель:</a:t>
            </a:r>
            <a:endParaRPr lang="ru-RU" sz="3200" b="0" u="none" strike="noStrike" dirty="0">
              <a:solidFill>
                <a:schemeClr val="accent1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86;p18"/>
          <p:cNvSpPr/>
          <p:nvPr/>
        </p:nvSpPr>
        <p:spPr>
          <a:xfrm>
            <a:off x="4067443" y="1539672"/>
            <a:ext cx="1630625" cy="6770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200" b="1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Задачи:</a:t>
            </a:r>
            <a:endParaRPr lang="ru-RU" sz="3200" b="0" u="none" strike="noStrike" dirty="0">
              <a:solidFill>
                <a:schemeClr val="accent1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71" y="4703885"/>
            <a:ext cx="3695957" cy="210356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847" y="4703885"/>
            <a:ext cx="3700813" cy="21035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16;p23"/>
          <p:cNvSpPr/>
          <p:nvPr/>
        </p:nvSpPr>
        <p:spPr>
          <a:xfrm>
            <a:off x="3097159" y="161336"/>
            <a:ext cx="3890527" cy="6211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b="1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Описание проекта</a:t>
            </a:r>
            <a:endParaRPr lang="ru-RU" sz="3200" b="0" u="none" strike="noStrike" dirty="0">
              <a:solidFill>
                <a:schemeClr val="accent1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Google Shape;117;p23"/>
          <p:cNvSpPr/>
          <p:nvPr/>
        </p:nvSpPr>
        <p:spPr>
          <a:xfrm>
            <a:off x="307800" y="905608"/>
            <a:ext cx="9469246" cy="46511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в среде </a:t>
            </a:r>
            <a:r>
              <a:rPr lang="ru-RU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сфокусирована на создании чистой топологии (преимущественно четырехугольники) для обеспечения правильного сглаживания форм.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начинается с использования примитива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Cylinder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с последующим применением инструментов </a:t>
            </a:r>
            <a:r>
              <a:rPr lang="ru-RU" sz="2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Extrude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(E) и </a:t>
            </a:r>
            <a:r>
              <a:rPr lang="ru-RU" sz="2000" dirty="0" err="1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2000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000" dirty="0" err="1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(S). Особое внимание уделяется конусообразному расширению в нижней части. Опоры («ноги») башни создаются через моделирование одного сегмента и его циклическое дублирование с помощью модификатора </a:t>
            </a:r>
            <a:r>
              <a:rPr lang="ru-RU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​Смотровая площадка и ресторанный комплекс «Седьмое небо» создаются путем отделения кольцевых сегментов основного ствола. Для создания оконных проемов и остекления используется инструмент </a:t>
            </a:r>
            <a:r>
              <a:rPr lang="ru-RU" sz="2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(I) и </a:t>
            </a:r>
            <a:r>
              <a:rPr lang="ru-RU" sz="2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r>
              <a:rPr lang="ru-RU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ru-RU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позволяет избежать артефактов геометрии.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данном проекте используется: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​</a:t>
            </a:r>
            <a:r>
              <a:rPr lang="ru-RU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модификаторы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которые используются в нашем проекте: </a:t>
            </a:r>
            <a:r>
              <a:rPr lang="ru-RU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ru-RU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subdivision</a:t>
            </a:r>
            <a:r>
              <a:rPr lang="ru-RU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​</a:t>
            </a:r>
            <a:r>
              <a:rPr lang="ru-RU" sz="20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Bevel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Для придания фасок острым углам, что делает геометрию более реалистичной даже без использования текстур.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726" y="3952470"/>
            <a:ext cx="2010056" cy="290553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25;p24"/>
          <p:cNvSpPr/>
          <p:nvPr/>
        </p:nvSpPr>
        <p:spPr>
          <a:xfrm>
            <a:off x="241920" y="1196640"/>
            <a:ext cx="7077960" cy="435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ru-RU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41920" y="1065236"/>
            <a:ext cx="90867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над проектом не только создана реалистичная 3D‑модель Останкинской телебашни, но и освоены базовые инструменты программы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необходимые для моделирования,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текстурирования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визуализации. Практическая работа с геометрией, материалами и освещением позволила лучше понять возможности программы и сформировала уверенность в дальнейшем развитии навыков. Полученный опыт стал хорошей основой для того, чтобы в будущем продолжать совершенствовать свои умения и создавать более сложные и детализированные проекты.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857076" y="122372"/>
            <a:ext cx="18564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521335" y="3619781"/>
            <a:ext cx="4921103" cy="30603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926" y="122372"/>
            <a:ext cx="1057423" cy="333421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664" y="3619781"/>
            <a:ext cx="3971916" cy="2376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16;p23"/>
          <p:cNvSpPr/>
          <p:nvPr/>
        </p:nvSpPr>
        <p:spPr>
          <a:xfrm>
            <a:off x="1631639" y="339771"/>
            <a:ext cx="6711933" cy="6449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200" b="1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Список </a:t>
            </a:r>
            <a:r>
              <a:rPr lang="ru-RU" sz="3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используемой литературы</a:t>
            </a: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:</a:t>
            </a:r>
            <a:endParaRPr lang="ru-RU" sz="3200" b="0" u="none" strike="noStrike" dirty="0">
              <a:solidFill>
                <a:schemeClr val="accent1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9520" y="1653850"/>
            <a:ext cx="90161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Останкинская телевизионная башня.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https://tatlin.ru/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Изучаем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Оливер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Вильяр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.</a:t>
            </a:r>
            <a:r>
              <a:rPr lang="en-US" sz="2000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labirint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.</a:t>
            </a:r>
            <a:r>
              <a:rPr lang="en-US" sz="2000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ru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books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/979836/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https://www.blender.org</a:t>
            </a:r>
            <a:r>
              <a:rPr lang="ru-RU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/</a:t>
            </a:r>
            <a:endParaRPr lang="en-US" sz="20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аддонов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программы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://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docs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.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blender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.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org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manual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en-US" sz="2000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ru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/3.6/</a:t>
            </a:r>
            <a:r>
              <a:rPr lang="en-US" sz="2000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addons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index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.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html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050" y="4859073"/>
            <a:ext cx="2910580" cy="163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952" y="4859073"/>
            <a:ext cx="1637202" cy="163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243</TotalTime>
  <Words>441</Words>
  <Application>Microsoft Office PowerPoint</Application>
  <PresentationFormat>Широкоэкранный</PresentationFormat>
  <Paragraphs>36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Arial</vt:lpstr>
      <vt:lpstr>Calibri</vt:lpstr>
      <vt:lpstr>Symbol</vt:lpstr>
      <vt:lpstr>Times New Roman</vt:lpstr>
      <vt:lpstr>Trebuchet MS</vt:lpstr>
      <vt:lpstr>Wingdings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pupil</dc:creator>
  <dc:description/>
  <cp:lastModifiedBy>pupil</cp:lastModifiedBy>
  <cp:revision>27</cp:revision>
  <cp:lastPrinted>2025-12-26T13:04:31Z</cp:lastPrinted>
  <dcterms:created xsi:type="dcterms:W3CDTF">2025-02-19T13:56:14Z</dcterms:created>
  <dcterms:modified xsi:type="dcterms:W3CDTF">2026-02-06T09:45:02Z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12</vt:i4>
  </property>
</Properties>
</file>